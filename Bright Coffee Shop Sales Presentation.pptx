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sldIdLst>
    <p:sldId id="256" r:id="rId2"/>
    <p:sldId id="257" r:id="rId3"/>
    <p:sldId id="260" r:id="rId4"/>
    <p:sldId id="262" r:id="rId5"/>
    <p:sldId id="263"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yile jongile" initials="vj" lastIdx="1" clrIdx="0">
    <p:extLst>
      <p:ext uri="{19B8F6BF-5375-455C-9EA6-DF929625EA0E}">
        <p15:presenceInfo xmlns:p15="http://schemas.microsoft.com/office/powerpoint/2012/main" userId="402d9d42633a4f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6" d="100"/>
          <a:sy n="76" d="100"/>
        </p:scale>
        <p:origin x="26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E46613-C57A-49A2-B261-619261AA84AD}" type="doc">
      <dgm:prSet loTypeId="urn:microsoft.com/office/officeart/2005/8/layout/hierarchy1" loCatId="hierarchy" qsTypeId="urn:microsoft.com/office/officeart/2005/8/quickstyle/simple5" qsCatId="simple" csTypeId="urn:microsoft.com/office/officeart/2005/8/colors/colorful1" csCatId="colorful" phldr="1"/>
      <dgm:spPr/>
      <dgm:t>
        <a:bodyPr/>
        <a:lstStyle/>
        <a:p>
          <a:endParaRPr lang="en-US"/>
        </a:p>
      </dgm:t>
    </dgm:pt>
    <dgm:pt modelId="{BD156480-E3A7-4FF2-BD51-EAFB7539CE71}">
      <dgm:prSet/>
      <dgm:spPr/>
      <dgm:t>
        <a:bodyPr/>
        <a:lstStyle/>
        <a:p>
          <a:r>
            <a:rPr lang="en-ZA" b="1" dirty="0"/>
            <a:t>Databricks </a:t>
          </a:r>
          <a:r>
            <a:rPr lang="en-ZA" b="1" dirty="0" err="1"/>
            <a:t>FreeEdition</a:t>
          </a:r>
          <a:r>
            <a:rPr lang="en-ZA" dirty="0"/>
            <a:t> – Data cleaning and SQL analysis. </a:t>
          </a:r>
          <a:endParaRPr lang="en-US" dirty="0"/>
        </a:p>
      </dgm:t>
    </dgm:pt>
    <dgm:pt modelId="{D210D9C7-4259-4024-92AC-902EF138CC04}" type="parTrans" cxnId="{3A2909CC-80E0-41DE-AF8A-1379D4E6BAC5}">
      <dgm:prSet/>
      <dgm:spPr/>
      <dgm:t>
        <a:bodyPr/>
        <a:lstStyle/>
        <a:p>
          <a:endParaRPr lang="en-US"/>
        </a:p>
      </dgm:t>
    </dgm:pt>
    <dgm:pt modelId="{04B3424C-9787-45EF-A125-C558440963DA}" type="sibTrans" cxnId="{3A2909CC-80E0-41DE-AF8A-1379D4E6BAC5}">
      <dgm:prSet/>
      <dgm:spPr/>
      <dgm:t>
        <a:bodyPr/>
        <a:lstStyle/>
        <a:p>
          <a:endParaRPr lang="en-US"/>
        </a:p>
      </dgm:t>
    </dgm:pt>
    <dgm:pt modelId="{1CCB4DF0-ACD6-45BC-8542-3EFDB30E1A69}">
      <dgm:prSet/>
      <dgm:spPr/>
      <dgm:t>
        <a:bodyPr/>
        <a:lstStyle/>
        <a:p>
          <a:r>
            <a:rPr lang="en-ZA" b="1"/>
            <a:t>SQL</a:t>
          </a:r>
          <a:r>
            <a:rPr lang="en-ZA"/>
            <a:t> – Data transformation and business analysis. </a:t>
          </a:r>
          <a:endParaRPr lang="en-US"/>
        </a:p>
      </dgm:t>
    </dgm:pt>
    <dgm:pt modelId="{3793DD2C-5FC9-445D-BF73-CEE0CE494F60}" type="parTrans" cxnId="{E43AD3C4-A185-44EE-943B-AE6E28F44A15}">
      <dgm:prSet/>
      <dgm:spPr/>
      <dgm:t>
        <a:bodyPr/>
        <a:lstStyle/>
        <a:p>
          <a:endParaRPr lang="en-US"/>
        </a:p>
      </dgm:t>
    </dgm:pt>
    <dgm:pt modelId="{4CD2C35A-2215-4EE8-9F1C-BBE14EC00AB9}" type="sibTrans" cxnId="{E43AD3C4-A185-44EE-943B-AE6E28F44A15}">
      <dgm:prSet/>
      <dgm:spPr/>
      <dgm:t>
        <a:bodyPr/>
        <a:lstStyle/>
        <a:p>
          <a:endParaRPr lang="en-US"/>
        </a:p>
      </dgm:t>
    </dgm:pt>
    <dgm:pt modelId="{17E3BA3B-0B01-4046-B9D1-A0104DE2383D}">
      <dgm:prSet/>
      <dgm:spPr/>
      <dgm:t>
        <a:bodyPr/>
        <a:lstStyle/>
        <a:p>
          <a:r>
            <a:rPr lang="en-ZA" b="1"/>
            <a:t>Microsoft Excel 2016</a:t>
          </a:r>
          <a:r>
            <a:rPr lang="en-ZA"/>
            <a:t> – Pivot Tables, charts, and dashboard. </a:t>
          </a:r>
          <a:endParaRPr lang="en-US"/>
        </a:p>
      </dgm:t>
    </dgm:pt>
    <dgm:pt modelId="{0D2F269B-CAE2-4AE6-88C7-0E8CF61C7864}" type="parTrans" cxnId="{B29B3C3F-80C7-4F01-A4C1-87609CE61F48}">
      <dgm:prSet/>
      <dgm:spPr/>
      <dgm:t>
        <a:bodyPr/>
        <a:lstStyle/>
        <a:p>
          <a:endParaRPr lang="en-US"/>
        </a:p>
      </dgm:t>
    </dgm:pt>
    <dgm:pt modelId="{E21E2088-62EA-4E3A-95C5-A85363F8831A}" type="sibTrans" cxnId="{B29B3C3F-80C7-4F01-A4C1-87609CE61F48}">
      <dgm:prSet/>
      <dgm:spPr/>
      <dgm:t>
        <a:bodyPr/>
        <a:lstStyle/>
        <a:p>
          <a:endParaRPr lang="en-US"/>
        </a:p>
      </dgm:t>
    </dgm:pt>
    <dgm:pt modelId="{31CB6917-27E6-4309-B0AB-CF73C9B62565}">
      <dgm:prSet/>
      <dgm:spPr/>
      <dgm:t>
        <a:bodyPr/>
        <a:lstStyle/>
        <a:p>
          <a:r>
            <a:rPr lang="en-ZA" b="1"/>
            <a:t>GitHub</a:t>
          </a:r>
          <a:r>
            <a:rPr lang="en-ZA"/>
            <a:t> – Project submission and version control.</a:t>
          </a:r>
          <a:endParaRPr lang="en-US"/>
        </a:p>
      </dgm:t>
    </dgm:pt>
    <dgm:pt modelId="{717FD768-A153-4EBD-876E-31BFE12F4B2B}" type="parTrans" cxnId="{9C59FAE1-8A0B-4865-8E5E-09A20AFD865F}">
      <dgm:prSet/>
      <dgm:spPr/>
      <dgm:t>
        <a:bodyPr/>
        <a:lstStyle/>
        <a:p>
          <a:endParaRPr lang="en-US"/>
        </a:p>
      </dgm:t>
    </dgm:pt>
    <dgm:pt modelId="{70E0BC99-3DB8-4D74-84C4-4FEB793AB47C}" type="sibTrans" cxnId="{9C59FAE1-8A0B-4865-8E5E-09A20AFD865F}">
      <dgm:prSet/>
      <dgm:spPr/>
      <dgm:t>
        <a:bodyPr/>
        <a:lstStyle/>
        <a:p>
          <a:endParaRPr lang="en-US"/>
        </a:p>
      </dgm:t>
    </dgm:pt>
    <dgm:pt modelId="{8C24053C-C5D7-4A80-AFF8-2EC7A111B88B}" type="pres">
      <dgm:prSet presAssocID="{A4E46613-C57A-49A2-B261-619261AA84AD}" presName="hierChild1" presStyleCnt="0">
        <dgm:presLayoutVars>
          <dgm:chPref val="1"/>
          <dgm:dir/>
          <dgm:animOne val="branch"/>
          <dgm:animLvl val="lvl"/>
          <dgm:resizeHandles/>
        </dgm:presLayoutVars>
      </dgm:prSet>
      <dgm:spPr/>
    </dgm:pt>
    <dgm:pt modelId="{905D6E0E-F86A-474F-B788-9B6240D4C8B6}" type="pres">
      <dgm:prSet presAssocID="{BD156480-E3A7-4FF2-BD51-EAFB7539CE71}" presName="hierRoot1" presStyleCnt="0"/>
      <dgm:spPr/>
    </dgm:pt>
    <dgm:pt modelId="{44DA1603-679B-49C4-A651-36A1650AC1EA}" type="pres">
      <dgm:prSet presAssocID="{BD156480-E3A7-4FF2-BD51-EAFB7539CE71}" presName="composite" presStyleCnt="0"/>
      <dgm:spPr/>
    </dgm:pt>
    <dgm:pt modelId="{22994D33-ECF7-43A7-BAE4-F73EA6A84A9B}" type="pres">
      <dgm:prSet presAssocID="{BD156480-E3A7-4FF2-BD51-EAFB7539CE71}" presName="background" presStyleLbl="node0" presStyleIdx="0" presStyleCnt="4"/>
      <dgm:spPr/>
    </dgm:pt>
    <dgm:pt modelId="{75D28D2C-325F-4676-89E0-AE96B7861597}" type="pres">
      <dgm:prSet presAssocID="{BD156480-E3A7-4FF2-BD51-EAFB7539CE71}" presName="text" presStyleLbl="fgAcc0" presStyleIdx="0" presStyleCnt="4">
        <dgm:presLayoutVars>
          <dgm:chPref val="3"/>
        </dgm:presLayoutVars>
      </dgm:prSet>
      <dgm:spPr/>
    </dgm:pt>
    <dgm:pt modelId="{43536EB8-5ACD-4DEF-997A-2D63BB499C3E}" type="pres">
      <dgm:prSet presAssocID="{BD156480-E3A7-4FF2-BD51-EAFB7539CE71}" presName="hierChild2" presStyleCnt="0"/>
      <dgm:spPr/>
    </dgm:pt>
    <dgm:pt modelId="{B4D287D5-5EB3-4921-9D9F-5782970D6DF7}" type="pres">
      <dgm:prSet presAssocID="{1CCB4DF0-ACD6-45BC-8542-3EFDB30E1A69}" presName="hierRoot1" presStyleCnt="0"/>
      <dgm:spPr/>
    </dgm:pt>
    <dgm:pt modelId="{65DD0766-3357-4CF3-BEB3-9712F389A986}" type="pres">
      <dgm:prSet presAssocID="{1CCB4DF0-ACD6-45BC-8542-3EFDB30E1A69}" presName="composite" presStyleCnt="0"/>
      <dgm:spPr/>
    </dgm:pt>
    <dgm:pt modelId="{837A6DB8-26D2-4A4A-BB4F-D0F16C40F293}" type="pres">
      <dgm:prSet presAssocID="{1CCB4DF0-ACD6-45BC-8542-3EFDB30E1A69}" presName="background" presStyleLbl="node0" presStyleIdx="1" presStyleCnt="4"/>
      <dgm:spPr/>
    </dgm:pt>
    <dgm:pt modelId="{FB406156-335E-4003-B2A8-24513E457944}" type="pres">
      <dgm:prSet presAssocID="{1CCB4DF0-ACD6-45BC-8542-3EFDB30E1A69}" presName="text" presStyleLbl="fgAcc0" presStyleIdx="1" presStyleCnt="4">
        <dgm:presLayoutVars>
          <dgm:chPref val="3"/>
        </dgm:presLayoutVars>
      </dgm:prSet>
      <dgm:spPr/>
    </dgm:pt>
    <dgm:pt modelId="{C79BFB15-9BCC-455F-88C5-58673856D13B}" type="pres">
      <dgm:prSet presAssocID="{1CCB4DF0-ACD6-45BC-8542-3EFDB30E1A69}" presName="hierChild2" presStyleCnt="0"/>
      <dgm:spPr/>
    </dgm:pt>
    <dgm:pt modelId="{401615D0-9D72-444D-81A4-E3882175BFC7}" type="pres">
      <dgm:prSet presAssocID="{17E3BA3B-0B01-4046-B9D1-A0104DE2383D}" presName="hierRoot1" presStyleCnt="0"/>
      <dgm:spPr/>
    </dgm:pt>
    <dgm:pt modelId="{4F9D4F81-4352-4A10-AB3D-1436F7EF132C}" type="pres">
      <dgm:prSet presAssocID="{17E3BA3B-0B01-4046-B9D1-A0104DE2383D}" presName="composite" presStyleCnt="0"/>
      <dgm:spPr/>
    </dgm:pt>
    <dgm:pt modelId="{339CBE11-C498-47E5-AB55-BC5840FD9DFC}" type="pres">
      <dgm:prSet presAssocID="{17E3BA3B-0B01-4046-B9D1-A0104DE2383D}" presName="background" presStyleLbl="node0" presStyleIdx="2" presStyleCnt="4"/>
      <dgm:spPr/>
    </dgm:pt>
    <dgm:pt modelId="{554C0188-E8A3-4FB6-9190-53E0F5565B0D}" type="pres">
      <dgm:prSet presAssocID="{17E3BA3B-0B01-4046-B9D1-A0104DE2383D}" presName="text" presStyleLbl="fgAcc0" presStyleIdx="2" presStyleCnt="4">
        <dgm:presLayoutVars>
          <dgm:chPref val="3"/>
        </dgm:presLayoutVars>
      </dgm:prSet>
      <dgm:spPr/>
    </dgm:pt>
    <dgm:pt modelId="{F5B5965C-F104-4AF1-829D-BFF68AC5F7FA}" type="pres">
      <dgm:prSet presAssocID="{17E3BA3B-0B01-4046-B9D1-A0104DE2383D}" presName="hierChild2" presStyleCnt="0"/>
      <dgm:spPr/>
    </dgm:pt>
    <dgm:pt modelId="{5338C640-4576-4136-A4F7-FA4D27F9D04E}" type="pres">
      <dgm:prSet presAssocID="{31CB6917-27E6-4309-B0AB-CF73C9B62565}" presName="hierRoot1" presStyleCnt="0"/>
      <dgm:spPr/>
    </dgm:pt>
    <dgm:pt modelId="{4CBD9985-9E44-43EB-9D49-C6DAE859FBAF}" type="pres">
      <dgm:prSet presAssocID="{31CB6917-27E6-4309-B0AB-CF73C9B62565}" presName="composite" presStyleCnt="0"/>
      <dgm:spPr/>
    </dgm:pt>
    <dgm:pt modelId="{4AB61C6F-D4DE-4597-BB25-2518025BD7FA}" type="pres">
      <dgm:prSet presAssocID="{31CB6917-27E6-4309-B0AB-CF73C9B62565}" presName="background" presStyleLbl="node0" presStyleIdx="3" presStyleCnt="4"/>
      <dgm:spPr/>
    </dgm:pt>
    <dgm:pt modelId="{E2AB0117-47AC-473D-8DA2-A86F066151D2}" type="pres">
      <dgm:prSet presAssocID="{31CB6917-27E6-4309-B0AB-CF73C9B62565}" presName="text" presStyleLbl="fgAcc0" presStyleIdx="3" presStyleCnt="4">
        <dgm:presLayoutVars>
          <dgm:chPref val="3"/>
        </dgm:presLayoutVars>
      </dgm:prSet>
      <dgm:spPr/>
    </dgm:pt>
    <dgm:pt modelId="{57B6FD85-8531-4208-B56E-C055A02B225B}" type="pres">
      <dgm:prSet presAssocID="{31CB6917-27E6-4309-B0AB-CF73C9B62565}" presName="hierChild2" presStyleCnt="0"/>
      <dgm:spPr/>
    </dgm:pt>
  </dgm:ptLst>
  <dgm:cxnLst>
    <dgm:cxn modelId="{21A2950D-00E8-4C1B-ACD5-508168E4F35F}" type="presOf" srcId="{17E3BA3B-0B01-4046-B9D1-A0104DE2383D}" destId="{554C0188-E8A3-4FB6-9190-53E0F5565B0D}" srcOrd="0" destOrd="0" presId="urn:microsoft.com/office/officeart/2005/8/layout/hierarchy1"/>
    <dgm:cxn modelId="{CAB09037-3760-4F75-8383-2758F79F8C8C}" type="presOf" srcId="{A4E46613-C57A-49A2-B261-619261AA84AD}" destId="{8C24053C-C5D7-4A80-AFF8-2EC7A111B88B}" srcOrd="0" destOrd="0" presId="urn:microsoft.com/office/officeart/2005/8/layout/hierarchy1"/>
    <dgm:cxn modelId="{B29B3C3F-80C7-4F01-A4C1-87609CE61F48}" srcId="{A4E46613-C57A-49A2-B261-619261AA84AD}" destId="{17E3BA3B-0B01-4046-B9D1-A0104DE2383D}" srcOrd="2" destOrd="0" parTransId="{0D2F269B-CAE2-4AE6-88C7-0E8CF61C7864}" sibTransId="{E21E2088-62EA-4E3A-95C5-A85363F8831A}"/>
    <dgm:cxn modelId="{BC85A78A-C7BD-4F25-8338-8E7FDBC428DF}" type="presOf" srcId="{BD156480-E3A7-4FF2-BD51-EAFB7539CE71}" destId="{75D28D2C-325F-4676-89E0-AE96B7861597}" srcOrd="0" destOrd="0" presId="urn:microsoft.com/office/officeart/2005/8/layout/hierarchy1"/>
    <dgm:cxn modelId="{E43AD3C4-A185-44EE-943B-AE6E28F44A15}" srcId="{A4E46613-C57A-49A2-B261-619261AA84AD}" destId="{1CCB4DF0-ACD6-45BC-8542-3EFDB30E1A69}" srcOrd="1" destOrd="0" parTransId="{3793DD2C-5FC9-445D-BF73-CEE0CE494F60}" sibTransId="{4CD2C35A-2215-4EE8-9F1C-BBE14EC00AB9}"/>
    <dgm:cxn modelId="{3A2909CC-80E0-41DE-AF8A-1379D4E6BAC5}" srcId="{A4E46613-C57A-49A2-B261-619261AA84AD}" destId="{BD156480-E3A7-4FF2-BD51-EAFB7539CE71}" srcOrd="0" destOrd="0" parTransId="{D210D9C7-4259-4024-92AC-902EF138CC04}" sibTransId="{04B3424C-9787-45EF-A125-C558440963DA}"/>
    <dgm:cxn modelId="{EE1B3ADA-FD54-4400-A36B-6CC9252AF06F}" type="presOf" srcId="{1CCB4DF0-ACD6-45BC-8542-3EFDB30E1A69}" destId="{FB406156-335E-4003-B2A8-24513E457944}" srcOrd="0" destOrd="0" presId="urn:microsoft.com/office/officeart/2005/8/layout/hierarchy1"/>
    <dgm:cxn modelId="{9C59FAE1-8A0B-4865-8E5E-09A20AFD865F}" srcId="{A4E46613-C57A-49A2-B261-619261AA84AD}" destId="{31CB6917-27E6-4309-B0AB-CF73C9B62565}" srcOrd="3" destOrd="0" parTransId="{717FD768-A153-4EBD-876E-31BFE12F4B2B}" sibTransId="{70E0BC99-3DB8-4D74-84C4-4FEB793AB47C}"/>
    <dgm:cxn modelId="{95AB53EA-1612-41A7-B2BF-A7BAAF8F2687}" type="presOf" srcId="{31CB6917-27E6-4309-B0AB-CF73C9B62565}" destId="{E2AB0117-47AC-473D-8DA2-A86F066151D2}" srcOrd="0" destOrd="0" presId="urn:microsoft.com/office/officeart/2005/8/layout/hierarchy1"/>
    <dgm:cxn modelId="{60945FB0-0E36-4717-9FF8-6824B5BF6016}" type="presParOf" srcId="{8C24053C-C5D7-4A80-AFF8-2EC7A111B88B}" destId="{905D6E0E-F86A-474F-B788-9B6240D4C8B6}" srcOrd="0" destOrd="0" presId="urn:microsoft.com/office/officeart/2005/8/layout/hierarchy1"/>
    <dgm:cxn modelId="{525D31F7-CFE8-4B2A-83F1-D365A6C9FDB0}" type="presParOf" srcId="{905D6E0E-F86A-474F-B788-9B6240D4C8B6}" destId="{44DA1603-679B-49C4-A651-36A1650AC1EA}" srcOrd="0" destOrd="0" presId="urn:microsoft.com/office/officeart/2005/8/layout/hierarchy1"/>
    <dgm:cxn modelId="{E4740CC7-260C-4208-B200-4B19735BDD0B}" type="presParOf" srcId="{44DA1603-679B-49C4-A651-36A1650AC1EA}" destId="{22994D33-ECF7-43A7-BAE4-F73EA6A84A9B}" srcOrd="0" destOrd="0" presId="urn:microsoft.com/office/officeart/2005/8/layout/hierarchy1"/>
    <dgm:cxn modelId="{B9795C5B-2518-498F-8970-90226B409C80}" type="presParOf" srcId="{44DA1603-679B-49C4-A651-36A1650AC1EA}" destId="{75D28D2C-325F-4676-89E0-AE96B7861597}" srcOrd="1" destOrd="0" presId="urn:microsoft.com/office/officeart/2005/8/layout/hierarchy1"/>
    <dgm:cxn modelId="{03FECFB9-780E-46DF-BE36-67CAB20BF5F9}" type="presParOf" srcId="{905D6E0E-F86A-474F-B788-9B6240D4C8B6}" destId="{43536EB8-5ACD-4DEF-997A-2D63BB499C3E}" srcOrd="1" destOrd="0" presId="urn:microsoft.com/office/officeart/2005/8/layout/hierarchy1"/>
    <dgm:cxn modelId="{8EC9C9F3-9D3A-4F41-BA80-8D6D9A95DF3C}" type="presParOf" srcId="{8C24053C-C5D7-4A80-AFF8-2EC7A111B88B}" destId="{B4D287D5-5EB3-4921-9D9F-5782970D6DF7}" srcOrd="1" destOrd="0" presId="urn:microsoft.com/office/officeart/2005/8/layout/hierarchy1"/>
    <dgm:cxn modelId="{83AC27FF-EB82-41B9-9D55-CD88281BFC41}" type="presParOf" srcId="{B4D287D5-5EB3-4921-9D9F-5782970D6DF7}" destId="{65DD0766-3357-4CF3-BEB3-9712F389A986}" srcOrd="0" destOrd="0" presId="urn:microsoft.com/office/officeart/2005/8/layout/hierarchy1"/>
    <dgm:cxn modelId="{6E255840-31E4-46A7-83A5-ABFCE09F24AB}" type="presParOf" srcId="{65DD0766-3357-4CF3-BEB3-9712F389A986}" destId="{837A6DB8-26D2-4A4A-BB4F-D0F16C40F293}" srcOrd="0" destOrd="0" presId="urn:microsoft.com/office/officeart/2005/8/layout/hierarchy1"/>
    <dgm:cxn modelId="{1EB09BDC-59CD-49FE-84D5-D23B628709AC}" type="presParOf" srcId="{65DD0766-3357-4CF3-BEB3-9712F389A986}" destId="{FB406156-335E-4003-B2A8-24513E457944}" srcOrd="1" destOrd="0" presId="urn:microsoft.com/office/officeart/2005/8/layout/hierarchy1"/>
    <dgm:cxn modelId="{6C67659B-AAC8-4D30-BADC-0B56BE0E4135}" type="presParOf" srcId="{B4D287D5-5EB3-4921-9D9F-5782970D6DF7}" destId="{C79BFB15-9BCC-455F-88C5-58673856D13B}" srcOrd="1" destOrd="0" presId="urn:microsoft.com/office/officeart/2005/8/layout/hierarchy1"/>
    <dgm:cxn modelId="{59B3FA9C-CFA3-49DC-98E5-8CA13686C077}" type="presParOf" srcId="{8C24053C-C5D7-4A80-AFF8-2EC7A111B88B}" destId="{401615D0-9D72-444D-81A4-E3882175BFC7}" srcOrd="2" destOrd="0" presId="urn:microsoft.com/office/officeart/2005/8/layout/hierarchy1"/>
    <dgm:cxn modelId="{285278CF-388A-4E61-8195-DCB06B4A4174}" type="presParOf" srcId="{401615D0-9D72-444D-81A4-E3882175BFC7}" destId="{4F9D4F81-4352-4A10-AB3D-1436F7EF132C}" srcOrd="0" destOrd="0" presId="urn:microsoft.com/office/officeart/2005/8/layout/hierarchy1"/>
    <dgm:cxn modelId="{6B518949-C0F8-4D0F-AAB6-9B13146732FF}" type="presParOf" srcId="{4F9D4F81-4352-4A10-AB3D-1436F7EF132C}" destId="{339CBE11-C498-47E5-AB55-BC5840FD9DFC}" srcOrd="0" destOrd="0" presId="urn:microsoft.com/office/officeart/2005/8/layout/hierarchy1"/>
    <dgm:cxn modelId="{27C3B80E-6DC6-4BB2-AB51-B4D85AC4B5EF}" type="presParOf" srcId="{4F9D4F81-4352-4A10-AB3D-1436F7EF132C}" destId="{554C0188-E8A3-4FB6-9190-53E0F5565B0D}" srcOrd="1" destOrd="0" presId="urn:microsoft.com/office/officeart/2005/8/layout/hierarchy1"/>
    <dgm:cxn modelId="{4A5973F9-279D-492B-8A97-EA4A1B12E44B}" type="presParOf" srcId="{401615D0-9D72-444D-81A4-E3882175BFC7}" destId="{F5B5965C-F104-4AF1-829D-BFF68AC5F7FA}" srcOrd="1" destOrd="0" presId="urn:microsoft.com/office/officeart/2005/8/layout/hierarchy1"/>
    <dgm:cxn modelId="{C98D6509-D684-4811-93E1-0A2C29427941}" type="presParOf" srcId="{8C24053C-C5D7-4A80-AFF8-2EC7A111B88B}" destId="{5338C640-4576-4136-A4F7-FA4D27F9D04E}" srcOrd="3" destOrd="0" presId="urn:microsoft.com/office/officeart/2005/8/layout/hierarchy1"/>
    <dgm:cxn modelId="{B8AC56F3-9617-41F1-89EF-4B166E5884EA}" type="presParOf" srcId="{5338C640-4576-4136-A4F7-FA4D27F9D04E}" destId="{4CBD9985-9E44-43EB-9D49-C6DAE859FBAF}" srcOrd="0" destOrd="0" presId="urn:microsoft.com/office/officeart/2005/8/layout/hierarchy1"/>
    <dgm:cxn modelId="{3C196602-535B-44F9-870F-E44E62075993}" type="presParOf" srcId="{4CBD9985-9E44-43EB-9D49-C6DAE859FBAF}" destId="{4AB61C6F-D4DE-4597-BB25-2518025BD7FA}" srcOrd="0" destOrd="0" presId="urn:microsoft.com/office/officeart/2005/8/layout/hierarchy1"/>
    <dgm:cxn modelId="{91E0A159-A7D4-45BB-B338-DF16C9F014FE}" type="presParOf" srcId="{4CBD9985-9E44-43EB-9D49-C6DAE859FBAF}" destId="{E2AB0117-47AC-473D-8DA2-A86F066151D2}" srcOrd="1" destOrd="0" presId="urn:microsoft.com/office/officeart/2005/8/layout/hierarchy1"/>
    <dgm:cxn modelId="{8F401D40-7514-448B-9F8C-0D9EC2D2EAC3}" type="presParOf" srcId="{5338C640-4576-4136-A4F7-FA4D27F9D04E}" destId="{57B6FD85-8531-4208-B56E-C055A02B225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94D33-ECF7-43A7-BAE4-F73EA6A84A9B}">
      <dsp:nvSpPr>
        <dsp:cNvPr id="0" name=""/>
        <dsp:cNvSpPr/>
      </dsp:nvSpPr>
      <dsp:spPr>
        <a:xfrm>
          <a:off x="1113" y="1589354"/>
          <a:ext cx="794833" cy="5047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5D28D2C-325F-4676-89E0-AE96B7861597}">
      <dsp:nvSpPr>
        <dsp:cNvPr id="0" name=""/>
        <dsp:cNvSpPr/>
      </dsp:nvSpPr>
      <dsp:spPr>
        <a:xfrm>
          <a:off x="89428" y="1673253"/>
          <a:ext cx="794833" cy="50471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ZA" sz="700" b="1" kern="1200" dirty="0"/>
            <a:t>Databricks </a:t>
          </a:r>
          <a:r>
            <a:rPr lang="en-ZA" sz="700" b="1" kern="1200" dirty="0" err="1"/>
            <a:t>FreeEdition</a:t>
          </a:r>
          <a:r>
            <a:rPr lang="en-ZA" sz="700" kern="1200" dirty="0"/>
            <a:t> – Data cleaning and SQL analysis. </a:t>
          </a:r>
          <a:endParaRPr lang="en-US" sz="700" kern="1200" dirty="0"/>
        </a:p>
      </dsp:txBody>
      <dsp:txXfrm>
        <a:off x="104211" y="1688036"/>
        <a:ext cx="765267" cy="475153"/>
      </dsp:txXfrm>
    </dsp:sp>
    <dsp:sp modelId="{837A6DB8-26D2-4A4A-BB4F-D0F16C40F293}">
      <dsp:nvSpPr>
        <dsp:cNvPr id="0" name=""/>
        <dsp:cNvSpPr/>
      </dsp:nvSpPr>
      <dsp:spPr>
        <a:xfrm>
          <a:off x="972576" y="1589354"/>
          <a:ext cx="794833" cy="5047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B406156-335E-4003-B2A8-24513E457944}">
      <dsp:nvSpPr>
        <dsp:cNvPr id="0" name=""/>
        <dsp:cNvSpPr/>
      </dsp:nvSpPr>
      <dsp:spPr>
        <a:xfrm>
          <a:off x="1060890" y="1673253"/>
          <a:ext cx="794833" cy="50471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ZA" sz="700" b="1" kern="1200"/>
            <a:t>SQL</a:t>
          </a:r>
          <a:r>
            <a:rPr lang="en-ZA" sz="700" kern="1200"/>
            <a:t> – Data transformation and business analysis. </a:t>
          </a:r>
          <a:endParaRPr lang="en-US" sz="700" kern="1200"/>
        </a:p>
      </dsp:txBody>
      <dsp:txXfrm>
        <a:off x="1075673" y="1688036"/>
        <a:ext cx="765267" cy="475153"/>
      </dsp:txXfrm>
    </dsp:sp>
    <dsp:sp modelId="{339CBE11-C498-47E5-AB55-BC5840FD9DFC}">
      <dsp:nvSpPr>
        <dsp:cNvPr id="0" name=""/>
        <dsp:cNvSpPr/>
      </dsp:nvSpPr>
      <dsp:spPr>
        <a:xfrm>
          <a:off x="1944038" y="1589354"/>
          <a:ext cx="794833" cy="5047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54C0188-E8A3-4FB6-9190-53E0F5565B0D}">
      <dsp:nvSpPr>
        <dsp:cNvPr id="0" name=""/>
        <dsp:cNvSpPr/>
      </dsp:nvSpPr>
      <dsp:spPr>
        <a:xfrm>
          <a:off x="2032353" y="1673253"/>
          <a:ext cx="794833" cy="50471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ZA" sz="700" b="1" kern="1200"/>
            <a:t>Microsoft Excel 2016</a:t>
          </a:r>
          <a:r>
            <a:rPr lang="en-ZA" sz="700" kern="1200"/>
            <a:t> – Pivot Tables, charts, and dashboard. </a:t>
          </a:r>
          <a:endParaRPr lang="en-US" sz="700" kern="1200"/>
        </a:p>
      </dsp:txBody>
      <dsp:txXfrm>
        <a:off x="2047136" y="1688036"/>
        <a:ext cx="765267" cy="475153"/>
      </dsp:txXfrm>
    </dsp:sp>
    <dsp:sp modelId="{4AB61C6F-D4DE-4597-BB25-2518025BD7FA}">
      <dsp:nvSpPr>
        <dsp:cNvPr id="0" name=""/>
        <dsp:cNvSpPr/>
      </dsp:nvSpPr>
      <dsp:spPr>
        <a:xfrm>
          <a:off x="2915501" y="1589354"/>
          <a:ext cx="794833" cy="50471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2AB0117-47AC-473D-8DA2-A86F066151D2}">
      <dsp:nvSpPr>
        <dsp:cNvPr id="0" name=""/>
        <dsp:cNvSpPr/>
      </dsp:nvSpPr>
      <dsp:spPr>
        <a:xfrm>
          <a:off x="3003816" y="1673253"/>
          <a:ext cx="794833" cy="50471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ZA" sz="700" b="1" kern="1200"/>
            <a:t>GitHub</a:t>
          </a:r>
          <a:r>
            <a:rPr lang="en-ZA" sz="700" kern="1200"/>
            <a:t> – Project submission and version control.</a:t>
          </a:r>
          <a:endParaRPr lang="en-US" sz="700" kern="1200"/>
        </a:p>
      </dsp:txBody>
      <dsp:txXfrm>
        <a:off x="3018599" y="1688036"/>
        <a:ext cx="765267" cy="47515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8/7/2026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02716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8/7/2026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49384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8/7/2026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220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8/7/2026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56712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8/7/2026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7344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8/7/2026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12309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8/7/2026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20167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8/7/2026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1825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8/7/2026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2131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8/7/2026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7008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8/7/2026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47811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8/7/2026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74606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693" r:id="rId6"/>
    <p:sldLayoutId id="2147483689" r:id="rId7"/>
    <p:sldLayoutId id="2147483690" r:id="rId8"/>
    <p:sldLayoutId id="2147483691" r:id="rId9"/>
    <p:sldLayoutId id="2147483692" r:id="rId10"/>
    <p:sldLayoutId id="2147483694"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hyperlink" Target="https://finance.yahoo.com/news/databricks-inks-5-billion-financing-192045455.html" TargetMode="External"/><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rawpixel.com/search/data%20analysis%20dark" TargetMode="External"/><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kidney.org/news-stories/coffee-and-kidney-disease-it-safe" TargetMode="External"/><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BCE6E1-662F-4F61-A7D4-29A18261AC01}"/>
              </a:ext>
            </a:extLst>
          </p:cNvPr>
          <p:cNvSpPr>
            <a:spLocks noGrp="1"/>
          </p:cNvSpPr>
          <p:nvPr>
            <p:ph type="ctrTitle"/>
          </p:nvPr>
        </p:nvSpPr>
        <p:spPr>
          <a:xfrm>
            <a:off x="703400" y="871758"/>
            <a:ext cx="5227171" cy="3871143"/>
          </a:xfrm>
        </p:spPr>
        <p:txBody>
          <a:bodyPr>
            <a:normAutofit/>
          </a:bodyPr>
          <a:lstStyle/>
          <a:p>
            <a:r>
              <a:rPr lang="en-ZA" dirty="0">
                <a:latin typeface="Modern Love Grunge" panose="020B0604020202020204" pitchFamily="82" charset="0"/>
                <a:cs typeface="Biome Light" panose="020B0502040204020203" pitchFamily="34" charset="0"/>
              </a:rPr>
              <a:t>BRIGHT COFFEE SHOP</a:t>
            </a:r>
          </a:p>
        </p:txBody>
      </p:sp>
      <p:sp>
        <p:nvSpPr>
          <p:cNvPr id="3" name="Subtitle 2">
            <a:extLst>
              <a:ext uri="{FF2B5EF4-FFF2-40B4-BE49-F238E27FC236}">
                <a16:creationId xmlns:a16="http://schemas.microsoft.com/office/drawing/2014/main" id="{3AE50F5E-B270-4123-83DC-207A41668CB5}"/>
              </a:ext>
            </a:extLst>
          </p:cNvPr>
          <p:cNvSpPr>
            <a:spLocks noGrp="1"/>
          </p:cNvSpPr>
          <p:nvPr>
            <p:ph type="subTitle" idx="1"/>
          </p:nvPr>
        </p:nvSpPr>
        <p:spPr>
          <a:xfrm>
            <a:off x="797654" y="2625758"/>
            <a:ext cx="4857857" cy="2919342"/>
          </a:xfrm>
        </p:spPr>
        <p:txBody>
          <a:bodyPr>
            <a:normAutofit fontScale="70000" lnSpcReduction="20000"/>
          </a:bodyPr>
          <a:lstStyle/>
          <a:p>
            <a:r>
              <a:rPr lang="en-ZA" dirty="0"/>
              <a:t>Sales Analysis</a:t>
            </a:r>
          </a:p>
          <a:p>
            <a:endParaRPr lang="en-ZA" dirty="0"/>
          </a:p>
          <a:p>
            <a:endParaRPr lang="en-ZA" dirty="0"/>
          </a:p>
          <a:p>
            <a:endParaRPr lang="en-ZA" dirty="0"/>
          </a:p>
          <a:p>
            <a:endParaRPr lang="en-ZA" dirty="0"/>
          </a:p>
          <a:p>
            <a:endParaRPr lang="en-ZA" dirty="0"/>
          </a:p>
          <a:p>
            <a:r>
              <a:rPr lang="en-GB" b="1" dirty="0"/>
              <a:t>Prepared by:</a:t>
            </a:r>
            <a:r>
              <a:rPr lang="en-GB" dirty="0"/>
              <a:t> Vuyile Jongile</a:t>
            </a:r>
          </a:p>
          <a:p>
            <a:r>
              <a:rPr lang="en-GB" b="1" dirty="0"/>
              <a:t>Module:</a:t>
            </a:r>
            <a:r>
              <a:rPr lang="en-GB" dirty="0"/>
              <a:t> Data Analytics Case Study</a:t>
            </a:r>
          </a:p>
          <a:p>
            <a:r>
              <a:rPr lang="en-GB" b="1" dirty="0"/>
              <a:t>Submission Date:</a:t>
            </a:r>
            <a:r>
              <a:rPr lang="en-GB" dirty="0"/>
              <a:t> 7 August 2026</a:t>
            </a:r>
          </a:p>
          <a:p>
            <a:endParaRPr lang="en-ZA" dirty="0"/>
          </a:p>
        </p:txBody>
      </p:sp>
      <p:cxnSp>
        <p:nvCxnSpPr>
          <p:cNvPr id="27" name="Straight Connector 2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Hot chocolate in a cafe facing window">
            <a:extLst>
              <a:ext uri="{FF2B5EF4-FFF2-40B4-BE49-F238E27FC236}">
                <a16:creationId xmlns:a16="http://schemas.microsoft.com/office/drawing/2014/main" id="{F7CBE2E3-8149-9785-D196-96D607E8DB1B}"/>
              </a:ext>
            </a:extLst>
          </p:cNvPr>
          <p:cNvPicPr>
            <a:picLocks noChangeAspect="1"/>
          </p:cNvPicPr>
          <p:nvPr/>
        </p:nvPicPr>
        <p:blipFill>
          <a:blip r:embed="rId2"/>
          <a:srcRect l="25210" r="19535"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746633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DAC231-E176-47DC-A45F-A2CB31416F27}"/>
              </a:ext>
            </a:extLst>
          </p:cNvPr>
          <p:cNvSpPr>
            <a:spLocks noGrp="1"/>
          </p:cNvSpPr>
          <p:nvPr>
            <p:ph type="title"/>
          </p:nvPr>
        </p:nvSpPr>
        <p:spPr>
          <a:xfrm>
            <a:off x="704088" y="914400"/>
            <a:ext cx="5195889" cy="1316736"/>
          </a:xfrm>
        </p:spPr>
        <p:txBody>
          <a:bodyPr vert="horz" lIns="91440" tIns="45720" rIns="91440" bIns="45720" rtlCol="0" anchor="t">
            <a:normAutofit/>
          </a:bodyPr>
          <a:lstStyle/>
          <a:p>
            <a:r>
              <a:rPr lang="en-US" sz="4000"/>
              <a:t>	business    problem</a:t>
            </a:r>
          </a:p>
        </p:txBody>
      </p:sp>
      <p:cxnSp>
        <p:nvCxnSpPr>
          <p:cNvPr id="16" name="Straight Connector 15">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636B93C7-74B6-490F-9E4F-5C5CDE4EB15F}"/>
              </a:ext>
            </a:extLst>
          </p:cNvPr>
          <p:cNvSpPr>
            <a:spLocks noGrp="1"/>
          </p:cNvSpPr>
          <p:nvPr>
            <p:ph type="body" sz="half" idx="2"/>
          </p:nvPr>
        </p:nvSpPr>
        <p:spPr>
          <a:xfrm>
            <a:off x="704088" y="2231136"/>
            <a:ext cx="5195889" cy="3931920"/>
          </a:xfrm>
        </p:spPr>
        <p:txBody>
          <a:bodyPr vert="horz" lIns="91440" tIns="45720" rIns="91440" bIns="45720" rtlCol="0">
            <a:normAutofit/>
          </a:bodyPr>
          <a:lstStyle/>
          <a:p>
            <a:r>
              <a:rPr lang="en-US" b="1" dirty="0"/>
              <a:t>Objective</a:t>
            </a:r>
          </a:p>
          <a:p>
            <a:r>
              <a:rPr lang="en-US" dirty="0"/>
              <a:t>The purpose of this project was to </a:t>
            </a:r>
            <a:r>
              <a:rPr lang="en-US" dirty="0" err="1"/>
              <a:t>analyse</a:t>
            </a:r>
            <a:r>
              <a:rPr lang="en-US" dirty="0"/>
              <a:t> Bright Coffee Shop's sales data to identify revenue trends, customer purchasing patterns, and peak trading periods. The analysis aims to provide actionable recommendations that will help management improve sales performance and make data-driven business decisions.</a:t>
            </a:r>
          </a:p>
          <a:p>
            <a:pPr indent="-22860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97DC0E6D-0020-2155-81E2-5781A7EE1FA9}"/>
              </a:ext>
            </a:extLst>
          </p:cNvPr>
          <p:cNvPicPr>
            <a:picLocks noChangeAspect="1"/>
          </p:cNvPicPr>
          <p:nvPr/>
        </p:nvPicPr>
        <p:blipFill>
          <a:blip r:embed="rId2"/>
          <a:srcRect l="15352" r="37311"/>
          <a:stretch>
            <a:fillRect/>
          </a:stretch>
        </p:blipFill>
        <p:spPr>
          <a:xfrm>
            <a:off x="6516764" y="-2"/>
            <a:ext cx="5771248" cy="6857999"/>
          </a:xfrm>
          <a:prstGeom prst="rect">
            <a:avLst/>
          </a:prstGeom>
          <a:ln>
            <a:noFill/>
          </a:ln>
          <a:effectLst>
            <a:softEdge rad="112500"/>
          </a:effectLst>
        </p:spPr>
      </p:pic>
    </p:spTree>
    <p:extLst>
      <p:ext uri="{BB962C8B-B14F-4D97-AF65-F5344CB8AC3E}">
        <p14:creationId xmlns:p14="http://schemas.microsoft.com/office/powerpoint/2010/main" val="3496431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DC144-F23E-4BF6-846A-AF940EBA0148}"/>
              </a:ext>
            </a:extLst>
          </p:cNvPr>
          <p:cNvSpPr>
            <a:spLocks noGrp="1"/>
          </p:cNvSpPr>
          <p:nvPr>
            <p:ph type="title"/>
          </p:nvPr>
        </p:nvSpPr>
        <p:spPr>
          <a:xfrm>
            <a:off x="704088" y="914400"/>
            <a:ext cx="10780776" cy="1180210"/>
          </a:xfrm>
        </p:spPr>
        <p:txBody>
          <a:bodyPr vert="horz" lIns="91440" tIns="45720" rIns="91440" bIns="45720" rtlCol="0" anchor="t">
            <a:normAutofit/>
          </a:bodyPr>
          <a:lstStyle/>
          <a:p>
            <a:r>
              <a:rPr lang="en-US" dirty="0"/>
              <a:t>Data cleaning and </a:t>
            </a:r>
            <a:r>
              <a:rPr lang="en-US" dirty="0" err="1"/>
              <a:t>tranformation</a:t>
            </a:r>
            <a:endParaRPr lang="en-US" dirty="0"/>
          </a:p>
        </p:txBody>
      </p:sp>
      <p:cxnSp>
        <p:nvCxnSpPr>
          <p:cNvPr id="17" name="Straight Connector 16">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descr="A computer with a logo on it&#10;&#10;Description automatically generated">
            <a:extLst>
              <a:ext uri="{FF2B5EF4-FFF2-40B4-BE49-F238E27FC236}">
                <a16:creationId xmlns:a16="http://schemas.microsoft.com/office/drawing/2014/main" id="{569CA1F9-7C2F-49FC-A7CD-C300829D9060}"/>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00098" y="2458495"/>
            <a:ext cx="5549902" cy="3704559"/>
          </a:xfrm>
          <a:prstGeom prst="rect">
            <a:avLst/>
          </a:prstGeom>
        </p:spPr>
      </p:pic>
      <p:sp>
        <p:nvSpPr>
          <p:cNvPr id="3" name="Content Placeholder 2">
            <a:extLst>
              <a:ext uri="{FF2B5EF4-FFF2-40B4-BE49-F238E27FC236}">
                <a16:creationId xmlns:a16="http://schemas.microsoft.com/office/drawing/2014/main" id="{87881245-5B0D-4D00-979A-2B908F7CF82A}"/>
              </a:ext>
            </a:extLst>
          </p:cNvPr>
          <p:cNvSpPr>
            <a:spLocks noGrp="1"/>
          </p:cNvSpPr>
          <p:nvPr>
            <p:ph sz="half" idx="1"/>
          </p:nvPr>
        </p:nvSpPr>
        <p:spPr>
          <a:xfrm>
            <a:off x="6664960" y="2346959"/>
            <a:ext cx="5180676" cy="4081549"/>
          </a:xfrm>
        </p:spPr>
        <p:txBody>
          <a:bodyPr vert="horz" lIns="91440" tIns="45720" rIns="91440" bIns="45720" rtlCol="0">
            <a:normAutofit/>
          </a:bodyPr>
          <a:lstStyle/>
          <a:p>
            <a:pPr>
              <a:buFont typeface="Wingdings" panose="05000000000000000000" pitchFamily="2" charset="2"/>
              <a:buChar char="Ø"/>
            </a:pPr>
            <a:r>
              <a:rPr lang="en-US" dirty="0"/>
              <a:t>Imported the Bright Coffee Shop sales dataset into Databricks. </a:t>
            </a:r>
          </a:p>
          <a:p>
            <a:pPr>
              <a:buFont typeface="Wingdings" panose="05000000000000000000" pitchFamily="2" charset="2"/>
              <a:buChar char="Ø"/>
            </a:pPr>
            <a:r>
              <a:rPr lang="en-US" dirty="0"/>
              <a:t>Converted the unit price column from text to decimal format. Created a total amount column by multiplying transaction quantity by unit price.</a:t>
            </a:r>
          </a:p>
          <a:p>
            <a:pPr>
              <a:buFont typeface="Wingdings" panose="05000000000000000000" pitchFamily="2" charset="2"/>
              <a:buChar char="Ø"/>
            </a:pPr>
            <a:r>
              <a:rPr lang="en-US" dirty="0"/>
              <a:t>Created transaction time bucket to group transactions into time periods.</a:t>
            </a:r>
          </a:p>
          <a:p>
            <a:pPr>
              <a:buFont typeface="Wingdings" panose="05000000000000000000" pitchFamily="2" charset="2"/>
              <a:buChar char="Ø"/>
            </a:pPr>
            <a:r>
              <a:rPr lang="en-US" dirty="0"/>
              <a:t>Exported the cleaned dataset for dashboard development.</a:t>
            </a:r>
          </a:p>
        </p:txBody>
      </p:sp>
    </p:spTree>
    <p:extLst>
      <p:ext uri="{BB962C8B-B14F-4D97-AF65-F5344CB8AC3E}">
        <p14:creationId xmlns:p14="http://schemas.microsoft.com/office/powerpoint/2010/main" val="164350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013A8E4-EBA1-4B22-8EF8-2E04F59F33D9}"/>
              </a:ext>
            </a:extLst>
          </p:cNvPr>
          <p:cNvSpPr>
            <a:spLocks noGrp="1"/>
          </p:cNvSpPr>
          <p:nvPr>
            <p:ph type="title"/>
          </p:nvPr>
        </p:nvSpPr>
        <p:spPr>
          <a:xfrm>
            <a:off x="704088" y="914400"/>
            <a:ext cx="3799763" cy="1473200"/>
          </a:xfrm>
        </p:spPr>
        <p:txBody>
          <a:bodyPr>
            <a:normAutofit/>
          </a:bodyPr>
          <a:lstStyle/>
          <a:p>
            <a:r>
              <a:rPr lang="en-ZA" sz="3600"/>
              <a:t>Tools utilised:</a:t>
            </a:r>
          </a:p>
        </p:txBody>
      </p:sp>
      <p:cxnSp>
        <p:nvCxnSpPr>
          <p:cNvPr id="30" name="Straight Connector 2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7" descr="Digital financial graph">
            <a:extLst>
              <a:ext uri="{FF2B5EF4-FFF2-40B4-BE49-F238E27FC236}">
                <a16:creationId xmlns:a16="http://schemas.microsoft.com/office/drawing/2014/main" id="{397DB9AB-D902-1E9B-26FC-1DEACCCC5B1B}"/>
              </a:ext>
            </a:extLst>
          </p:cNvPr>
          <p:cNvPicPr>
            <a:picLocks noChangeAspect="1"/>
          </p:cNvPicPr>
          <p:nvPr/>
        </p:nvPicPr>
        <p:blipFill>
          <a:blip r:embed="rId2"/>
          <a:srcRect l="20766" r="11822" b="-1"/>
          <a:stretch>
            <a:fillRect/>
          </a:stretch>
        </p:blipFill>
        <p:spPr>
          <a:xfrm>
            <a:off x="4981575" y="735286"/>
            <a:ext cx="6495042" cy="5419642"/>
          </a:xfrm>
          <a:prstGeom prst="rect">
            <a:avLst/>
          </a:prstGeom>
        </p:spPr>
      </p:pic>
      <p:graphicFrame>
        <p:nvGraphicFramePr>
          <p:cNvPr id="23" name="Content Placeholder 5">
            <a:extLst>
              <a:ext uri="{FF2B5EF4-FFF2-40B4-BE49-F238E27FC236}">
                <a16:creationId xmlns:a16="http://schemas.microsoft.com/office/drawing/2014/main" id="{3E464A34-DABF-7228-E69E-0617CD4FFAF3}"/>
              </a:ext>
            </a:extLst>
          </p:cNvPr>
          <p:cNvGraphicFramePr>
            <a:graphicFrameLocks noGrp="1"/>
          </p:cNvGraphicFramePr>
          <p:nvPr>
            <p:ph idx="1"/>
            <p:extLst>
              <p:ext uri="{D42A27DB-BD31-4B8C-83A1-F6EECF244321}">
                <p14:modId xmlns:p14="http://schemas.microsoft.com/office/powerpoint/2010/main" val="2265995519"/>
              </p:ext>
            </p:extLst>
          </p:nvPr>
        </p:nvGraphicFramePr>
        <p:xfrm>
          <a:off x="704088" y="2387600"/>
          <a:ext cx="3799763" cy="3767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155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DEEAE8-55E6-4842-AF74-B923B134E11D}"/>
              </a:ext>
            </a:extLst>
          </p:cNvPr>
          <p:cNvSpPr>
            <a:spLocks noGrp="1"/>
          </p:cNvSpPr>
          <p:nvPr>
            <p:ph type="title"/>
          </p:nvPr>
        </p:nvSpPr>
        <p:spPr>
          <a:xfrm>
            <a:off x="647700" y="871759"/>
            <a:ext cx="10925176" cy="1128876"/>
          </a:xfrm>
        </p:spPr>
        <p:txBody>
          <a:bodyPr vert="horz" lIns="91440" tIns="45720" rIns="91440" bIns="45720" rtlCol="0" anchor="t">
            <a:normAutofit/>
          </a:bodyPr>
          <a:lstStyle/>
          <a:p>
            <a:r>
              <a:rPr lang="en-US" sz="5400"/>
              <a:t>Dashboard overview</a:t>
            </a:r>
          </a:p>
        </p:txBody>
      </p:sp>
      <p:cxnSp>
        <p:nvCxnSpPr>
          <p:cNvPr id="30" name="Straight Connector 29">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omputer&#10;&#10;Description automatically generated">
            <a:extLst>
              <a:ext uri="{FF2B5EF4-FFF2-40B4-BE49-F238E27FC236}">
                <a16:creationId xmlns:a16="http://schemas.microsoft.com/office/drawing/2014/main" id="{B7E4A567-A60C-41BE-B61D-9D1E0D7DBA9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22733" y="2000635"/>
            <a:ext cx="5562566" cy="3985598"/>
          </a:xfrm>
          <a:prstGeom prst="rect">
            <a:avLst/>
          </a:prstGeom>
        </p:spPr>
      </p:pic>
      <p:pic>
        <p:nvPicPr>
          <p:cNvPr id="8" name="Content Placeholder 7" descr="A screenshot of a computer&#10;&#10;Description automatically generated">
            <a:extLst>
              <a:ext uri="{FF2B5EF4-FFF2-40B4-BE49-F238E27FC236}">
                <a16:creationId xmlns:a16="http://schemas.microsoft.com/office/drawing/2014/main" id="{21BD2803-4D15-42C4-B043-454D73B5D89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53513" y="1960097"/>
            <a:ext cx="5644329" cy="3985598"/>
          </a:xfrm>
          <a:prstGeom prst="rect">
            <a:avLst/>
          </a:prstGeom>
        </p:spPr>
      </p:pic>
      <p:cxnSp>
        <p:nvCxnSpPr>
          <p:cNvPr id="32" name="Straight Connector 31">
            <a:extLst>
              <a:ext uri="{FF2B5EF4-FFF2-40B4-BE49-F238E27FC236}">
                <a16:creationId xmlns:a16="http://schemas.microsoft.com/office/drawing/2014/main" id="{44B21692-652C-4371-95C5-05248EF342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789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414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4" name="Straight Connector 3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descr="A hand touching a touch screen&#10;&#10;Description automatically generated">
            <a:extLst>
              <a:ext uri="{FF2B5EF4-FFF2-40B4-BE49-F238E27FC236}">
                <a16:creationId xmlns:a16="http://schemas.microsoft.com/office/drawing/2014/main" id="{96A4E409-E246-409D-8E84-D296F6550C6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8834" r="26950" b="-3"/>
          <a:stretch>
            <a:fillRect/>
          </a:stretch>
        </p:blipFill>
        <p:spPr>
          <a:xfrm>
            <a:off x="790575" y="902448"/>
            <a:ext cx="4104154" cy="5053104"/>
          </a:xfrm>
          <a:prstGeom prst="rect">
            <a:avLst/>
          </a:prstGeom>
        </p:spPr>
      </p:pic>
      <p:sp>
        <p:nvSpPr>
          <p:cNvPr id="5" name="Rectangle 4">
            <a:extLst>
              <a:ext uri="{FF2B5EF4-FFF2-40B4-BE49-F238E27FC236}">
                <a16:creationId xmlns:a16="http://schemas.microsoft.com/office/drawing/2014/main" id="{EB26C7E6-474F-4392-92E1-5AB250FFC848}"/>
              </a:ext>
            </a:extLst>
          </p:cNvPr>
          <p:cNvSpPr/>
          <p:nvPr/>
        </p:nvSpPr>
        <p:spPr>
          <a:xfrm>
            <a:off x="5427133" y="712400"/>
            <a:ext cx="6053328" cy="5243151"/>
          </a:xfrm>
          <a:prstGeom prst="rect">
            <a:avLst/>
          </a:prstGeom>
        </p:spPr>
        <p:txBody>
          <a:bodyPr vert="horz" lIns="91440" tIns="45720" rIns="91440" bIns="45720" rtlCol="0">
            <a:noAutofit/>
          </a:bodyPr>
          <a:lstStyle/>
          <a:p>
            <a:pPr>
              <a:spcAft>
                <a:spcPts val="600"/>
              </a:spcAft>
            </a:pPr>
            <a:r>
              <a:rPr lang="en-US" sz="1600" b="1" dirty="0"/>
              <a:t>Key Findings</a:t>
            </a:r>
          </a:p>
          <a:p>
            <a:pPr indent="-228600">
              <a:spcAft>
                <a:spcPts val="600"/>
              </a:spcAft>
              <a:buFont typeface="Arial" panose="020B0604020202020204" pitchFamily="34" charset="0"/>
              <a:buChar char="•"/>
            </a:pPr>
            <a:endParaRPr lang="en-US" sz="1600" b="1" dirty="0"/>
          </a:p>
          <a:p>
            <a:pPr marL="342900" indent="-228600">
              <a:spcAft>
                <a:spcPts val="600"/>
              </a:spcAft>
              <a:buFont typeface="Arial" panose="020B0604020202020204" pitchFamily="34" charset="0"/>
              <a:buChar char="•"/>
            </a:pPr>
            <a:r>
              <a:rPr lang="en-US" sz="1600" dirty="0"/>
              <a:t>Coffee generated the highest total revenue among all product categories, making it the strongest contributor to overall sales. </a:t>
            </a:r>
          </a:p>
          <a:p>
            <a:pPr marL="342900" indent="-228600">
              <a:spcAft>
                <a:spcPts val="600"/>
              </a:spcAft>
              <a:buFont typeface="Arial" panose="020B0604020202020204" pitchFamily="34" charset="0"/>
              <a:buChar char="•"/>
            </a:pPr>
            <a:r>
              <a:rPr lang="en-US" sz="1600" dirty="0"/>
              <a:t>Within the product types, Barista Espresso recorded the highest revenue, followed by Brewed Green Tea and Hot Chocolate, indicating strong customer demand for these beverages. </a:t>
            </a:r>
          </a:p>
          <a:p>
            <a:pPr marL="342900" indent="-228600">
              <a:spcAft>
                <a:spcPts val="600"/>
              </a:spcAft>
              <a:buFont typeface="Arial" panose="020B0604020202020204" pitchFamily="34" charset="0"/>
              <a:buChar char="•"/>
            </a:pPr>
            <a:r>
              <a:rPr lang="en-US" sz="1600" dirty="0"/>
              <a:t>Hell's Kitchen generated the highest total revenue among the three store locations, with Astoria performing similarly, while Lower Manhattan recorded the lowest revenue. </a:t>
            </a:r>
          </a:p>
          <a:p>
            <a:pPr marL="342900" indent="-228600">
              <a:spcAft>
                <a:spcPts val="600"/>
              </a:spcAft>
              <a:buFont typeface="Arial" panose="020B0604020202020204" pitchFamily="34" charset="0"/>
              <a:buChar char="•"/>
            </a:pPr>
            <a:r>
              <a:rPr lang="en-US" sz="1600" dirty="0"/>
              <a:t>Sales reached their highest level during the 12:00–14:59 time bucket, showing that lunchtime is the busiest trading period. Sales were lowest during the 06:00–08:59 and 18:00–20:59 periods. </a:t>
            </a:r>
          </a:p>
          <a:p>
            <a:pPr marL="342900" indent="-228600">
              <a:spcAft>
                <a:spcPts val="600"/>
              </a:spcAft>
              <a:buFont typeface="Arial" panose="020B0604020202020204" pitchFamily="34" charset="0"/>
              <a:buChar char="•"/>
            </a:pPr>
            <a:r>
              <a:rPr lang="en-US" sz="1600" dirty="0"/>
              <a:t>Coffee had the highest quantity sold, followed by Tea, confirming that hot beverages are the most popular products. </a:t>
            </a:r>
          </a:p>
          <a:p>
            <a:pPr marL="342900" indent="-228600">
              <a:spcAft>
                <a:spcPts val="600"/>
              </a:spcAft>
              <a:buFont typeface="Arial" panose="020B0604020202020204" pitchFamily="34" charset="0"/>
              <a:buChar char="•"/>
            </a:pPr>
            <a:r>
              <a:rPr lang="en-US" sz="1600" dirty="0"/>
              <a:t>The best-selling products included Brazilian Small, Morning Sunrise Chai, Our Old Time Diner Blend, and Brazilian Large, demonstrating consistent customer preference for coffee-based drinks.</a:t>
            </a:r>
          </a:p>
        </p:txBody>
      </p:sp>
      <p:cxnSp>
        <p:nvCxnSpPr>
          <p:cNvPr id="42" name="Straight Connector 41">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50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F239E5-B708-4D40-B108-C03796C057AE}"/>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sz="4000"/>
              <a:t>recommendations</a:t>
            </a:r>
          </a:p>
        </p:txBody>
      </p:sp>
      <p:pic>
        <p:nvPicPr>
          <p:cNvPr id="6" name="Picture Placeholder 5" descr="A cup of coffee on a saucer&#10;&#10;Description automatically generated">
            <a:extLst>
              <a:ext uri="{FF2B5EF4-FFF2-40B4-BE49-F238E27FC236}">
                <a16:creationId xmlns:a16="http://schemas.microsoft.com/office/drawing/2014/main" id="{1CAC67C2-EEC0-411D-8A85-4E21A6B732B8}"/>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122" r="16046" b="2"/>
          <a:stretch>
            <a:fillRect/>
          </a:stretch>
        </p:blipFill>
        <p:spPr>
          <a:xfrm>
            <a:off x="20" y="-17929"/>
            <a:ext cx="4206220" cy="6875929"/>
          </a:xfrm>
          <a:prstGeom prst="rect">
            <a:avLst/>
          </a:prstGeom>
        </p:spPr>
      </p:pic>
      <p:cxnSp>
        <p:nvCxnSpPr>
          <p:cNvPr id="17" name="Straight Connector 16">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4829D52-F74F-4CBE-88D8-BAB7BABEBDBA}"/>
              </a:ext>
            </a:extLst>
          </p:cNvPr>
          <p:cNvSpPr>
            <a:spLocks noGrp="1"/>
          </p:cNvSpPr>
          <p:nvPr>
            <p:ph type="body" sz="half" idx="2"/>
          </p:nvPr>
        </p:nvSpPr>
        <p:spPr>
          <a:xfrm>
            <a:off x="4866968" y="2221992"/>
            <a:ext cx="6627924" cy="3739896"/>
          </a:xfrm>
        </p:spPr>
        <p:txBody>
          <a:bodyPr vert="horz" lIns="91440" tIns="45720" rIns="91440" bIns="45720" rtlCol="0">
            <a:normAutofit/>
          </a:bodyPr>
          <a:lstStyle/>
          <a:p>
            <a:pPr indent="-228600">
              <a:buFont typeface="Arial" panose="020B0604020202020204" pitchFamily="34" charset="0"/>
              <a:buChar char="•"/>
            </a:pPr>
            <a:r>
              <a:rPr lang="en-US" b="1"/>
              <a:t>Business Recommendations</a:t>
            </a:r>
          </a:p>
          <a:p>
            <a:pPr marL="285750" indent="-228600">
              <a:buFont typeface="Arial" panose="020B0604020202020204" pitchFamily="34" charset="0"/>
              <a:buChar char="•"/>
            </a:pPr>
            <a:r>
              <a:rPr lang="en-US"/>
              <a:t>Increase inventory for high-demand products. </a:t>
            </a:r>
          </a:p>
          <a:p>
            <a:pPr marL="285750" indent="-228600">
              <a:buFont typeface="Arial" panose="020B0604020202020204" pitchFamily="34" charset="0"/>
              <a:buChar char="•"/>
            </a:pPr>
            <a:r>
              <a:rPr lang="en-US"/>
              <a:t>Introduce promotions during quieter trading periods. </a:t>
            </a:r>
          </a:p>
          <a:p>
            <a:pPr marL="285750" indent="-228600">
              <a:buFont typeface="Arial" panose="020B0604020202020204" pitchFamily="34" charset="0"/>
              <a:buChar char="•"/>
            </a:pPr>
            <a:r>
              <a:rPr lang="en-US"/>
              <a:t>Bundle slow-selling products with popular items. </a:t>
            </a:r>
          </a:p>
          <a:p>
            <a:pPr marL="285750" indent="-228600">
              <a:buFont typeface="Arial" panose="020B0604020202020204" pitchFamily="34" charset="0"/>
              <a:buChar char="•"/>
            </a:pPr>
            <a:r>
              <a:rPr lang="en-US"/>
              <a:t>Focus marketing campaigns during peak trading hours. </a:t>
            </a:r>
          </a:p>
          <a:p>
            <a:pPr marL="285750" indent="-228600">
              <a:buFont typeface="Arial" panose="020B0604020202020204" pitchFamily="34" charset="0"/>
              <a:buChar char="•"/>
            </a:pPr>
            <a:r>
              <a:rPr lang="en-US"/>
              <a:t>Use dashboards for continuous sales monitoring. </a:t>
            </a:r>
          </a:p>
          <a:p>
            <a:pPr marL="285750" indent="-228600">
              <a:buFont typeface="Arial" panose="020B0604020202020204" pitchFamily="34" charset="0"/>
              <a:buChar char="•"/>
            </a:pPr>
            <a:r>
              <a:rPr lang="en-US"/>
              <a:t>Introduce customer loyalty programmes to encourage repeat purchases. </a:t>
            </a:r>
          </a:p>
          <a:p>
            <a:pPr indent="-228600">
              <a:buFont typeface="Arial" panose="020B0604020202020204" pitchFamily="34" charset="0"/>
              <a:buChar char="•"/>
            </a:pPr>
            <a:endParaRPr lang="en-US"/>
          </a:p>
        </p:txBody>
      </p:sp>
      <p:cxnSp>
        <p:nvCxnSpPr>
          <p:cNvPr id="19" name="Straight Connector 18">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987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0" name="Straight Connector 3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72D53E8-2686-4435-A37F-E01BAE19CA18}"/>
              </a:ext>
            </a:extLst>
          </p:cNvPr>
          <p:cNvSpPr>
            <a:spLocks noGrp="1"/>
          </p:cNvSpPr>
          <p:nvPr>
            <p:ph type="title" idx="4294967295"/>
          </p:nvPr>
        </p:nvSpPr>
        <p:spPr>
          <a:xfrm>
            <a:off x="6284749" y="909638"/>
            <a:ext cx="5201121" cy="1318062"/>
          </a:xfrm>
        </p:spPr>
        <p:txBody>
          <a:bodyPr vert="horz" lIns="91440" tIns="45720" rIns="91440" bIns="45720" rtlCol="0" anchor="t">
            <a:normAutofit/>
          </a:bodyPr>
          <a:lstStyle/>
          <a:p>
            <a:pPr>
              <a:lnSpc>
                <a:spcPct val="90000"/>
              </a:lnSpc>
            </a:pPr>
            <a:r>
              <a:rPr lang="en-US" sz="2800"/>
              <a:t>Recommendations </a:t>
            </a:r>
            <a:br>
              <a:rPr lang="en-US" sz="2800"/>
            </a:br>
            <a:br>
              <a:rPr lang="en-US" sz="2800"/>
            </a:br>
            <a:endParaRPr lang="en-US" sz="2800"/>
          </a:p>
        </p:txBody>
      </p:sp>
      <p:pic>
        <p:nvPicPr>
          <p:cNvPr id="9" name="Picture 8" descr="Coffee on white background">
            <a:extLst>
              <a:ext uri="{FF2B5EF4-FFF2-40B4-BE49-F238E27FC236}">
                <a16:creationId xmlns:a16="http://schemas.microsoft.com/office/drawing/2014/main" id="{E8F177A7-466F-4DED-16D4-84B48EC99B57}"/>
              </a:ext>
            </a:extLst>
          </p:cNvPr>
          <p:cNvPicPr>
            <a:picLocks noChangeAspect="1"/>
          </p:cNvPicPr>
          <p:nvPr/>
        </p:nvPicPr>
        <p:blipFill>
          <a:blip r:embed="rId2"/>
          <a:srcRect r="44649" b="-1"/>
          <a:stretch>
            <a:fillRect/>
          </a:stretch>
        </p:blipFill>
        <p:spPr>
          <a:xfrm>
            <a:off x="0" y="10"/>
            <a:ext cx="5686740" cy="6857990"/>
          </a:xfrm>
          <a:prstGeom prst="rect">
            <a:avLst/>
          </a:prstGeom>
        </p:spPr>
      </p:pic>
      <p:cxnSp>
        <p:nvCxnSpPr>
          <p:cNvPr id="46" name="Straight Connector 4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5DF7FA3-3DD1-4FA3-BD41-759C91DCD4B1}"/>
              </a:ext>
            </a:extLst>
          </p:cNvPr>
          <p:cNvSpPr/>
          <p:nvPr/>
        </p:nvSpPr>
        <p:spPr>
          <a:xfrm>
            <a:off x="6290838" y="2236843"/>
            <a:ext cx="5201121" cy="3931920"/>
          </a:xfrm>
          <a:prstGeom prst="rect">
            <a:avLst/>
          </a:prstGeom>
        </p:spPr>
        <p:txBody>
          <a:bodyPr vert="horz" lIns="91440" tIns="45720" rIns="91440" bIns="45720" rtlCol="0">
            <a:normAutofit/>
          </a:bodyPr>
          <a:lstStyle/>
          <a:p>
            <a:pPr indent="-228600" algn="just">
              <a:spcAft>
                <a:spcPts val="600"/>
              </a:spcAft>
              <a:buFont typeface="Wingdings" panose="05000000000000000000" pitchFamily="2" charset="2"/>
              <a:buChar char="Ø"/>
            </a:pPr>
            <a:r>
              <a:rPr lang="en-US" sz="1100" dirty="0"/>
              <a:t>Ensure adequate stock is maintained for the most popular coffee products to avoid running out of high-demand items and to improve customer satisfaction.</a:t>
            </a:r>
          </a:p>
          <a:p>
            <a:pPr indent="-228600" algn="just">
              <a:spcAft>
                <a:spcPts val="600"/>
              </a:spcAft>
              <a:buFont typeface="Wingdings" panose="05000000000000000000" pitchFamily="2" charset="2"/>
              <a:buChar char="Ø"/>
            </a:pPr>
            <a:r>
              <a:rPr lang="en-US" sz="1100" dirty="0"/>
              <a:t>Increase staff availability during the midday trading period (12:00–14:59) to provide faster service and effectively manage the higher customer volume.</a:t>
            </a:r>
          </a:p>
          <a:p>
            <a:pPr indent="-228600" algn="just">
              <a:spcAft>
                <a:spcPts val="600"/>
              </a:spcAft>
              <a:buFont typeface="Wingdings" panose="05000000000000000000" pitchFamily="2" charset="2"/>
              <a:buChar char="Ø"/>
            </a:pPr>
            <a:r>
              <a:rPr lang="en-US" sz="1100" dirty="0"/>
              <a:t>Implement targeted marketing initiatives at the Lower Manhattan branch to attract more customers and improve overall sales performance.</a:t>
            </a:r>
          </a:p>
          <a:p>
            <a:pPr indent="-228600" algn="just">
              <a:spcAft>
                <a:spcPts val="600"/>
              </a:spcAft>
              <a:buFont typeface="Wingdings" panose="05000000000000000000" pitchFamily="2" charset="2"/>
              <a:buChar char="Ø"/>
            </a:pPr>
            <a:r>
              <a:rPr lang="en-US" sz="1100" dirty="0"/>
              <a:t>Encourage sales of lower-performing products by offering special promotions, meal combinations, or limited-time discounts to increase customer interest.</a:t>
            </a:r>
          </a:p>
          <a:p>
            <a:pPr indent="-228600" algn="just">
              <a:spcAft>
                <a:spcPts val="600"/>
              </a:spcAft>
              <a:buFont typeface="Wingdings" panose="05000000000000000000" pitchFamily="2" charset="2"/>
              <a:buChar char="Ø"/>
            </a:pPr>
            <a:r>
              <a:rPr lang="en-US" sz="1100" dirty="0"/>
              <a:t>Use sales dashboards and regular performance reports to track business trends, evaluate performance, and support informed management decisions.</a:t>
            </a:r>
          </a:p>
          <a:p>
            <a:pPr indent="-228600" algn="just">
              <a:spcAft>
                <a:spcPts val="600"/>
              </a:spcAft>
              <a:buFont typeface="Wingdings" panose="05000000000000000000" pitchFamily="2" charset="2"/>
              <a:buChar char="Ø"/>
            </a:pPr>
            <a:r>
              <a:rPr lang="en-US" sz="1100" dirty="0"/>
              <a:t>Develop a customer rewards </a:t>
            </a:r>
            <a:r>
              <a:rPr lang="en-US" sz="1100" dirty="0" err="1"/>
              <a:t>programme</a:t>
            </a:r>
            <a:r>
              <a:rPr lang="en-US" sz="1100" dirty="0"/>
              <a:t> to strengthen customer loyalty, encourage repeat visits, and increase long-term profitability</a:t>
            </a:r>
          </a:p>
          <a:p>
            <a:pPr>
              <a:spcAft>
                <a:spcPts val="600"/>
              </a:spcAft>
            </a:pPr>
            <a:r>
              <a:rPr lang="en-US" sz="1100" dirty="0"/>
              <a:t>Final Recommendation:</a:t>
            </a:r>
          </a:p>
          <a:p>
            <a:pPr>
              <a:spcAft>
                <a:spcPts val="600"/>
              </a:spcAft>
            </a:pPr>
            <a:r>
              <a:rPr lang="en-US" sz="1100" dirty="0"/>
              <a:t>By adopting these strategies, Bright Coffee Shop can improve operational efficiency, </a:t>
            </a:r>
            <a:r>
              <a:rPr lang="en-US" sz="1100" dirty="0" err="1"/>
              <a:t>maximise</a:t>
            </a:r>
            <a:r>
              <a:rPr lang="en-US" sz="1100" dirty="0"/>
              <a:t> revenue opportunities, enhance the customer experience, and support sustainable business growth through informed, data-driven decision-making.</a:t>
            </a:r>
          </a:p>
        </p:txBody>
      </p:sp>
    </p:spTree>
    <p:extLst>
      <p:ext uri="{BB962C8B-B14F-4D97-AF65-F5344CB8AC3E}">
        <p14:creationId xmlns:p14="http://schemas.microsoft.com/office/powerpoint/2010/main" val="313435798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427</TotalTime>
  <Words>541</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Calisto MT</vt:lpstr>
      <vt:lpstr>Modern Love Grunge</vt:lpstr>
      <vt:lpstr>Univers Condensed</vt:lpstr>
      <vt:lpstr>Wingdings</vt:lpstr>
      <vt:lpstr>ChronicleVTI</vt:lpstr>
      <vt:lpstr>BRIGHT COFFEE SHOP</vt:lpstr>
      <vt:lpstr> business    problem</vt:lpstr>
      <vt:lpstr>Data cleaning and tranformation</vt:lpstr>
      <vt:lpstr>Tools utilised:</vt:lpstr>
      <vt:lpstr>Dashboard overview</vt:lpstr>
      <vt:lpstr>PowerPoint Presentation</vt:lpstr>
      <vt:lpstr>recommendations</vt:lpstr>
      <vt:lpstr>Recommendations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COFFEE SHOP</dc:title>
  <dc:creator>vuyile jongile</dc:creator>
  <cp:lastModifiedBy>vuyile jongile</cp:lastModifiedBy>
  <cp:revision>1</cp:revision>
  <dcterms:created xsi:type="dcterms:W3CDTF">2026-08-07T12:26:32Z</dcterms:created>
  <dcterms:modified xsi:type="dcterms:W3CDTF">2026-08-07T19:33:35Z</dcterms:modified>
</cp:coreProperties>
</file>